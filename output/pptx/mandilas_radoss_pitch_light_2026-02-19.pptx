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1719027089306" ContentType="image/1719027089306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jp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1719027089306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2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2.png"/><Relationship Id="rId4" Type="http://schemas.openxmlformats.org/officeDocument/2006/relationships/image" Target="../media/image-2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2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22890" y="171450"/>
            <a:ext cx="769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323850" y="609600"/>
            <a:ext cx="589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&amp; CREATIVE PARTNER SHORTLIST PRESENTATION</a:t>
            </a:r>
            <a:endParaRPr lang="en-US" sz="825" dirty="0"/>
          </a:p>
        </p:txBody>
      </p:sp>
      <p:sp>
        <p:nvSpPr>
          <p:cNvPr id="10" name="Text 5"/>
          <p:cNvSpPr/>
          <p:nvPr/>
        </p:nvSpPr>
        <p:spPr>
          <a:xfrm>
            <a:off x="323850" y="742950"/>
            <a:ext cx="589290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1"/>
              </a:lnSpc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Mandilas x Radoss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323850" y="1225600"/>
            <a:ext cx="5892906" cy="33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6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 Strategy Deck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323850" y="1675805"/>
            <a:ext cx="5892906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spcBef>
                <a:spcPts val="900"/>
              </a:spcBef>
              <a:buNone/>
            </a:pPr>
            <a:r>
              <a:rPr lang="en-US" sz="135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structured response to Mandilas Group's search for a Digital &amp; Creative partner.</a:t>
            </a:r>
            <a:endParaRPr lang="en-US" sz="1350" dirty="0"/>
          </a:p>
        </p:txBody>
      </p:sp>
      <p:pic>
        <p:nvPicPr>
          <p:cNvPr id="13" name="Image 3" descr="/Users/radossagency/Documents/Web-Projects/new-radoss.agency/workspace/mandilas-pitch/assets/mandilas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58" y="609600"/>
            <a:ext cx="1842195" cy="13333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3850" y="2272010"/>
            <a:ext cx="4200525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9"/>
          <p:cNvSpPr/>
          <p:nvPr/>
        </p:nvSpPr>
        <p:spPr>
          <a:xfrm>
            <a:off x="323850" y="2276773"/>
            <a:ext cx="4200525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519613" y="227201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23850" y="3358307"/>
            <a:ext cx="4200525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52425" y="227201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95300" y="2386310"/>
            <a:ext cx="3983355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Mandilas Panel Presentation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95300" y="2642295"/>
            <a:ext cx="398335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 by Radoss Agency for Mandilas Group.</a:t>
            </a:r>
            <a:endParaRPr lang="en-US" sz="975" dirty="0"/>
          </a:p>
        </p:txBody>
      </p:sp>
      <p:sp>
        <p:nvSpPr>
          <p:cNvPr id="21" name="Text 15"/>
          <p:cNvSpPr/>
          <p:nvPr/>
        </p:nvSpPr>
        <p:spPr>
          <a:xfrm>
            <a:off x="4619625" y="2272010"/>
            <a:ext cx="4200525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4619625" y="2276773"/>
            <a:ext cx="4200525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815387" y="227201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9625" y="3358307"/>
            <a:ext cx="4200525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8200" y="2272010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91075" y="2386310"/>
            <a:ext cx="3983355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Details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91075" y="2651820"/>
            <a:ext cx="3905250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Thursday, February 19, 2026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12:15 PM physical meeting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minutes incl. Q&amp;A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7152829" y="4019550"/>
            <a:ext cx="1667321" cy="304800"/>
          </a:xfrm>
          <a:prstGeom prst="rect">
            <a:avLst/>
          </a:prstGeom>
          <a:solidFill>
            <a:srgbClr val="FFFFFF">
              <a:alpha val="85000"/>
            </a:srgbClr>
          </a:solidFill>
          <a:ln w="9525">
            <a:solidFill>
              <a:srgbClr val="C6D5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276654" y="4105275"/>
            <a:ext cx="1448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THEME EDITION</a:t>
            </a:r>
            <a:endParaRPr lang="en-US" sz="825" dirty="0"/>
          </a:p>
        </p:txBody>
      </p:sp>
      <p:sp>
        <p:nvSpPr>
          <p:cNvPr id="30" name="Shape 24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Open confidently and acknowledge shortlist invitation and objective alignment.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1905" y="171450"/>
            <a:ext cx="790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&amp; Session Flow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073944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navigation and timing expectation.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36328"/>
            <a:ext cx="4800600" cy="1489025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341090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336328"/>
            <a:ext cx="0" cy="1489025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820591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336328"/>
            <a:ext cx="0" cy="1489025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450628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45-Minute Core Presentation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1716137"/>
            <a:ext cx="4505325" cy="95681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Q1. Agency Portfolio Overview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Q2. Strategic Framework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Q3. Notable Campaigns &amp; Impact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with Radoss. (strategic recommendation)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Q&amp;A + availability confirmation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228600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22860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852488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228600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Clarify that slides are organized exactly to match the request email structure.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0715" y="171450"/>
            <a:ext cx="792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/ 28</a:t>
            </a:r>
            <a:endParaRPr lang="en-US" sz="825" dirty="0"/>
          </a:p>
        </p:txBody>
      </p:sp>
      <p:pic>
        <p:nvPicPr>
          <p:cNvPr id="9" name="Image 3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721644"/>
            <a:ext cx="3429000" cy="19288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3284" y="1942505"/>
            <a:ext cx="1197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BREAKER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588645" y="2075855"/>
            <a:ext cx="7966710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44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| Agency Portfolio Overview</a:t>
            </a:r>
            <a:endParaRPr lang="en-US" sz="3900" dirty="0"/>
          </a:p>
        </p:txBody>
      </p:sp>
      <p:sp>
        <p:nvSpPr>
          <p:cNvPr id="12" name="Text 6"/>
          <p:cNvSpPr/>
          <p:nvPr/>
        </p:nvSpPr>
        <p:spPr>
          <a:xfrm>
            <a:off x="2690381" y="3198019"/>
            <a:ext cx="376323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Background, Team, Capabilities, Brands Served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Transition into Q1 with an explicit section marker as requested.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97738" y="171450"/>
            <a:ext cx="795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 | The Nexus of Business, Marketing &amp; Technology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812131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positioning and DNA.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074515"/>
            <a:ext cx="48006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07927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2074515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888605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074515"/>
            <a:ext cx="0" cy="81885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188815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Growth Positioning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444800"/>
            <a:ext cx="459543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Radoss connects strategic intent, execution discipline, and technology enablement to unlock measurable growth.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Perspective from Portfolio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Nexus of Business, Marketing &amp; Technology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Interconnected solutions, not siloed services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Lagos headquartered with global delivery mindset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200650" y="1814959"/>
            <a:ext cx="878681" cy="5905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4DE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https://radoss.agency/fav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425" y="1921669"/>
            <a:ext cx="377130" cy="37713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Use both current site and legacy portfolio language to show consistency of positioning.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3245" y="171450"/>
            <a:ext cx="789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47700"/>
            <a:ext cx="874395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&amp; Key Team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285750" y="1112490"/>
            <a:ext cx="87439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complete team details and delivery coverage.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74874"/>
            <a:ext cx="2793950" cy="2176463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9E4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95275" y="1384399"/>
            <a:ext cx="2774900" cy="129540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https://res.cloudinary.com/innosaint/image/upload/v1759535536/Uchenna-Innocent_headshot_nzenth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049" y="1384399"/>
            <a:ext cx="863203" cy="129525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95275" y="2698849"/>
            <a:ext cx="2774900" cy="0"/>
          </a:xfrm>
          <a:prstGeom prst="line">
            <a:avLst/>
          </a:prstGeom>
          <a:noFill/>
          <a:ln w="38100">
            <a:solidFill>
              <a:srgbClr val="4745D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90525" y="2803624"/>
            <a:ext cx="26360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Uchenna Innocent, MCIM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390525" y="3015555"/>
            <a:ext cx="2636088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Chief Digital Architect &amp; Founder</a:t>
            </a:r>
            <a:endParaRPr lang="en-US" sz="825" dirty="0"/>
          </a:p>
        </p:txBody>
      </p:sp>
      <p:sp>
        <p:nvSpPr>
          <p:cNvPr id="17" name="Text 11"/>
          <p:cNvSpPr/>
          <p:nvPr/>
        </p:nvSpPr>
        <p:spPr>
          <a:xfrm>
            <a:off x="390525" y="3194149"/>
            <a:ext cx="263608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transformation, growth strategy, technology enablement</a:t>
            </a:r>
            <a:endParaRPr lang="en-US" sz="825" dirty="0"/>
          </a:p>
        </p:txBody>
      </p:sp>
      <p:sp>
        <p:nvSpPr>
          <p:cNvPr id="18" name="Text 12"/>
          <p:cNvSpPr/>
          <p:nvPr/>
        </p:nvSpPr>
        <p:spPr>
          <a:xfrm>
            <a:off x="3174950" y="1374874"/>
            <a:ext cx="2793950" cy="2176463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9E4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3184475" y="1384399"/>
            <a:ext cx="2774900" cy="129540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/Users/radossagency/Documents/Web-Projects/new-radoss.agency/public/images/team/timi-uk-silhouett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3780" y="1384399"/>
            <a:ext cx="1036290" cy="1295251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184475" y="2698849"/>
            <a:ext cx="2774900" cy="0"/>
          </a:xfrm>
          <a:prstGeom prst="line">
            <a:avLst/>
          </a:prstGeom>
          <a:noFill/>
          <a:ln w="38100">
            <a:solidFill>
              <a:srgbClr val="FFD90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279725" y="2803624"/>
            <a:ext cx="26360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 Uk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3279725" y="3015555"/>
            <a:ext cx="2636088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Chief Operating Officer &amp; Co-Founder</a:t>
            </a:r>
            <a:endParaRPr lang="en-US" sz="825" dirty="0"/>
          </a:p>
        </p:txBody>
      </p:sp>
      <p:sp>
        <p:nvSpPr>
          <p:cNvPr id="24" name="Text 17"/>
          <p:cNvSpPr/>
          <p:nvPr/>
        </p:nvSpPr>
        <p:spPr>
          <a:xfrm>
            <a:off x="3279725" y="3194149"/>
            <a:ext cx="263608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operations, campaign governance, delivery quality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6064151" y="1374874"/>
            <a:ext cx="2794099" cy="2176463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9E4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073676" y="1384399"/>
            <a:ext cx="2775049" cy="1295400"/>
          </a:xfrm>
          <a:prstGeom prst="rect">
            <a:avLst/>
          </a:prstGeom>
          <a:solidFill>
            <a:srgbClr val="EEF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5" descr="https://media.licdn.com/dms/image/v2/D4D03AQHarcZat2nPZw/profile-displayphoto-shrink_400_400/profile-displayphoto-shrink_400_400/0/1719027089306?e=2147483647&amp;v=beta&amp;t=qEoLB81CVNV6nJK594wiSEHdc8D2ROPySo4U4kI5rg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500" y="1384399"/>
            <a:ext cx="1295400" cy="12954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073676" y="2698849"/>
            <a:ext cx="2775049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168926" y="2803624"/>
            <a:ext cx="263624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Ebere Agbaje</a:t>
            </a:r>
            <a:endParaRPr lang="en-US" sz="1125" dirty="0"/>
          </a:p>
        </p:txBody>
      </p:sp>
      <p:sp>
        <p:nvSpPr>
          <p:cNvPr id="30" name="Text 22"/>
          <p:cNvSpPr/>
          <p:nvPr/>
        </p:nvSpPr>
        <p:spPr>
          <a:xfrm>
            <a:off x="6168926" y="3015555"/>
            <a:ext cx="2636240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b="1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Operations Lead</a:t>
            </a:r>
            <a:endParaRPr lang="en-US" sz="825" dirty="0"/>
          </a:p>
        </p:txBody>
      </p:sp>
      <p:sp>
        <p:nvSpPr>
          <p:cNvPr id="31" name="Text 23"/>
          <p:cNvSpPr/>
          <p:nvPr/>
        </p:nvSpPr>
        <p:spPr>
          <a:xfrm>
            <a:off x="6168926" y="3194149"/>
            <a:ext cx="263624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Operations planning, research intelligence, growth analytics</a:t>
            </a:r>
            <a:endParaRPr lang="en-US" sz="825" dirty="0"/>
          </a:p>
        </p:txBody>
      </p:sp>
      <p:sp>
        <p:nvSpPr>
          <p:cNvPr id="32" name="Text 24"/>
          <p:cNvSpPr/>
          <p:nvPr/>
        </p:nvSpPr>
        <p:spPr>
          <a:xfrm>
            <a:off x="285750" y="3627537"/>
            <a:ext cx="85725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5"/>
          <p:cNvSpPr/>
          <p:nvPr/>
        </p:nvSpPr>
        <p:spPr>
          <a:xfrm>
            <a:off x="285750" y="3632299"/>
            <a:ext cx="85725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853488" y="3627537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85750" y="4713833"/>
            <a:ext cx="85725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14325" y="3627537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3741837"/>
            <a:ext cx="8442770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Execution Lens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57200" y="4007346"/>
            <a:ext cx="82772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 + transformation design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+ brand operations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+ growth analytics + governance</a:t>
            </a:r>
            <a:endParaRPr lang="en-US" sz="975" dirty="0"/>
          </a:p>
        </p:txBody>
      </p:sp>
      <p:sp>
        <p:nvSpPr>
          <p:cNvPr id="39" name="Shape 31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Highlight role clarity and leadership-to-delivery continuity.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0417" y="171450"/>
            <a:ext cx="792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Service Offerings &amp; In-House Capabilities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 capability pillars to outcomes.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990701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129004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&amp; Performance Marketing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85231"/>
            <a:ext cx="45053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SEO and content strategy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PPC and paid media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and lifecycle automation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 and attribution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3090714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3095476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81588" y="3090714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4177010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3090714"/>
            <a:ext cx="0" cy="1091059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205014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&amp; Traditional Marketing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470523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strategy and identity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ATL and BTL activations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Integrated TTL campaign planning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200650" y="628650"/>
            <a:ext cx="37719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967788" y="628650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200650" y="191393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29225" y="628650"/>
            <a:ext cx="0" cy="129004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&amp; Digital Transformation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372100" y="1008459"/>
            <a:ext cx="34766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Sales-marketing alignment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MarTech/process optimization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integration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 management support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Demonstrate full-funnel and full-stack capacity within one partner.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6519" y="171450"/>
            <a:ext cx="7861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113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4"/>
              </a:lnSpc>
              <a:spcAft>
                <a:spcPts val="600"/>
              </a:spcAft>
              <a:buNone/>
            </a:pPr>
            <a:r>
              <a:rPr lang="en-US" sz="29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 the Agency Currently Serves / Has Served</a:t>
            </a:r>
            <a:endParaRPr lang="en-US" sz="2925" dirty="0"/>
          </a:p>
        </p:txBody>
      </p:sp>
      <p:sp>
        <p:nvSpPr>
          <p:cNvPr id="10" name="Text 5"/>
          <p:cNvSpPr/>
          <p:nvPr/>
        </p:nvSpPr>
        <p:spPr>
          <a:xfrm>
            <a:off x="285750" y="1841153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brand proof and relevance.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103537"/>
            <a:ext cx="4800600" cy="2085975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108299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2103537"/>
            <a:ext cx="0" cy="2085975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4184749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103537"/>
            <a:ext cx="0" cy="2085975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217837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Publicly Referenced Brands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483346"/>
            <a:ext cx="4505325" cy="15537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Zenith Bank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Tolaram Group (Indomie)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Miva University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Eatalia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Healthtracka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Bracken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HippoAds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Sterling Bank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4284762"/>
            <a:ext cx="4800600" cy="651718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428952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81588" y="4284762"/>
            <a:ext cx="0" cy="651718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493171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4284762"/>
            <a:ext cx="0" cy="651718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399062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Basis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4655046"/>
            <a:ext cx="459543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Compiled from radoss.agency/work, radossdigital.com, and portfolio deck.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200650" y="72390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Reference Matrix</a:t>
            </a:r>
            <a:endParaRPr lang="en-US" sz="1275" dirty="0"/>
          </a:p>
        </p:txBody>
      </p:sp>
      <p:sp>
        <p:nvSpPr>
          <p:cNvPr id="26" name="Text 21"/>
          <p:cNvSpPr/>
          <p:nvPr/>
        </p:nvSpPr>
        <p:spPr>
          <a:xfrm>
            <a:off x="5200650" y="990600"/>
            <a:ext cx="878681" cy="5905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4DE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https://beyondlimits.global/zenithbankpitchcompetition/wp-content/uploads/2024/11/zeni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875" y="1097310"/>
            <a:ext cx="618083" cy="37698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65056" y="990600"/>
            <a:ext cx="878681" cy="5905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4DE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4" descr="https://cdn.worldvectorlogo.com/logos/indomie-1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5832" y="1097310"/>
            <a:ext cx="377130" cy="37713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29463" y="990600"/>
            <a:ext cx="878681" cy="5905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4DE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https://miva-university.s3.eu-west-2.amazonaws.com/wp-content/uploads/2024/02/12140233/Miva-mobile-logo-dark-4x-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430" y="1194495"/>
            <a:ext cx="730597" cy="1826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93869" y="990600"/>
            <a:ext cx="878681" cy="5905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4DE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6" descr="https://res.cloudinary.com/innosaint/image/upload/v1745856555/Vertical_logo_jynkx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836" y="1210270"/>
            <a:ext cx="730597" cy="151209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Stay within publicly verifiable names and logos only.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19765" y="180975"/>
            <a:ext cx="772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Perspective | Consistency Across Years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Leverage old portfolio as continuity proof.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79171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Stayed Consistent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85231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Integrated strategy and execution posture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Case-led storytelling and measurable outcomes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Cross-industry experience over 10+ years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44274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81885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 for Mandilas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998934"/>
            <a:ext cx="354615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Consistent operating philosophy reduces onboarding friction and speeds up activation.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Use this to show institutional continuity, not nostalgia.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100417" y="171450"/>
            <a:ext cx="792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/ 28</a:t>
            </a:r>
            <a:endParaRPr lang="en-US" sz="825" dirty="0"/>
          </a:p>
        </p:txBody>
      </p:sp>
      <p:pic>
        <p:nvPicPr>
          <p:cNvPr id="9" name="Image 3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721644"/>
            <a:ext cx="3429000" cy="19288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3284" y="1942505"/>
            <a:ext cx="1197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BREAKER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588645" y="2075855"/>
            <a:ext cx="7966710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44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| Strategic Framework</a:t>
            </a:r>
            <a:endParaRPr lang="en-US" sz="3900" dirty="0"/>
          </a:p>
        </p:txBody>
      </p:sp>
      <p:sp>
        <p:nvSpPr>
          <p:cNvPr id="12" name="Text 6"/>
          <p:cNvSpPr/>
          <p:nvPr/>
        </p:nvSpPr>
        <p:spPr>
          <a:xfrm>
            <a:off x="2589734" y="3198019"/>
            <a:ext cx="3964531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Business Objectives to Insight-Led Strategy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Transition into strategy framework as the second required block.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1779" y="171450"/>
            <a:ext cx="8522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Philosophy | Connecting Objectives to Outcomes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812131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Explain strategic translation model.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074515"/>
            <a:ext cx="48006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07927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2074515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3359795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074515"/>
            <a:ext cx="0" cy="129004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188815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Translate Objectives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454325"/>
            <a:ext cx="45053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with commercial goals and constraints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Convert to market and customer hypotheses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Operationalize through accountable execution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measurement loops for optimization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44274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81885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Principle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998934"/>
            <a:ext cx="354615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Evidence first, assumptions second, execution discipline always.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Frame this as the lens before deep M-C-I-A breakdown.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55620" y="180975"/>
            <a:ext cx="838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M-C-I-A Overview | Strategic Flywheel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Introduce map-connect-implement-analyse cycle.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651718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651718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352377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651718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| Connect | Implement | Analyse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75706"/>
            <a:ext cx="459543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non-linear strategic flywheel that compounds decision quality each cycle.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Benefits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Better prioritization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Reduced execution waste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 adaptation under market change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Keep this high-level and executive-friendly.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4755" y="171450"/>
            <a:ext cx="84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| Map the Market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073944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 market diagnosis and priority setting.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36328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341090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336328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42262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336328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450628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Questions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1716137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are market realities and constraints?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are high-value opportunities?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should be prioritized now versus later?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+ Decision Gates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map and strategic thesis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 register with mitigation owners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architecture before execution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Stress prioritization and risk clarity before resource commitment.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3714" y="171450"/>
            <a:ext cx="850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| Connect with the Consumer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 consumer relevance design.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79171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Insight Questions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85231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jobs and anxieties drive decision?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is journey friction highest?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value exchange builds trust?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Audience blueprints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Journey intervention matrix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Message architecture by intent stage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Position connect as conversion and retention foundation.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| Implement with Impact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073944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 execution methodology and rollout governance.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36328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341090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336328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42262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336328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450628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1716137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Roadmap, ownership, and release rhythm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Cross-functional dependency governance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Instrumentation and attribution readiness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Brief to Rollout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Creative and channel orchestration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 controls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operating cadence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Show execution as a managed system, not ad hoc campaigns.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6095" y="171450"/>
            <a:ext cx="847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| Analyse, Adapt &amp; Amplify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 performance optimization loop.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79171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Model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85231"/>
            <a:ext cx="45053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Lagging and leading scorecards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Causal analysis and budget reallocation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Playbook codification for scale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44274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81885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 Effect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998934"/>
            <a:ext cx="354615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Insights from Analyse feed the next Map phase to improve future cycle ROI.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Link this directly to measurable accountability.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Consumer Insights &amp; Market Intelligence in Practice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812131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data system that powers strategy decisions.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074515"/>
            <a:ext cx="48006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07927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2074515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3359795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074515"/>
            <a:ext cx="0" cy="129004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188815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Inputs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454325"/>
            <a:ext cx="45053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and social intent signals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Funnel conversion behavior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Campaign test performance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Competitive and market context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91393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129004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Uses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1008459"/>
            <a:ext cx="34766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Prioritization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Creative iteration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 mix optimization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Board-level reporting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Demonstrate discipline in turning data into action.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9518" y="171450"/>
            <a:ext cx="844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17 / 28</a:t>
            </a:r>
            <a:endParaRPr lang="en-US" sz="825" dirty="0"/>
          </a:p>
        </p:txBody>
      </p:sp>
      <p:pic>
        <p:nvPicPr>
          <p:cNvPr id="9" name="Image 3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721644"/>
            <a:ext cx="3429000" cy="19288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3284" y="1942505"/>
            <a:ext cx="1197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BREAKER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588645" y="2075855"/>
            <a:ext cx="7966710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44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 | Notable Campaigns &amp; Impact</a:t>
            </a:r>
            <a:endParaRPr lang="en-US" sz="3900" dirty="0"/>
          </a:p>
        </p:txBody>
      </p:sp>
      <p:sp>
        <p:nvSpPr>
          <p:cNvPr id="12" name="Text 6"/>
          <p:cNvSpPr/>
          <p:nvPr/>
        </p:nvSpPr>
        <p:spPr>
          <a:xfrm>
            <a:off x="1946083" y="3198019"/>
            <a:ext cx="5251835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Strategic Challenge • Creative Approach • Channels • Outcomes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Set expectation for case-study depth and structure.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3416" y="171450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18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5071491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1 | Zenith Bank - Acquisition Efficiency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85750" y="1404342"/>
            <a:ext cx="507149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 challenge, execution, and measurable result.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666726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67148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666726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55403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666726"/>
            <a:ext cx="0" cy="892076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781026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37011"/>
            <a:ext cx="477031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Acquire minimum 2,000 customer accounts via Beta Life Promo.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2654052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2658814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3038" y="2654052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3541365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2654052"/>
            <a:ext cx="0" cy="892076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2768352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033861"/>
            <a:ext cx="46767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campaign buzz + direct-response focus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Audience targeting and promo mechanics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372100" y="628650"/>
            <a:ext cx="360045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9525">
            <a:solidFill>
              <a:srgbClr val="D2DC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https://beyondlimits.global/zenithbankpitchcompetition/wp-content/uploads/2024/11/zeni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719" y="772567"/>
            <a:ext cx="1027063" cy="6265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72100" y="1638300"/>
            <a:ext cx="36004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5372100" y="164306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967788" y="1638300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72100" y="252561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00675" y="1638300"/>
            <a:ext cx="0" cy="892076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43550" y="1752600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43550" y="2018109"/>
            <a:ext cx="33051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benchmark: 2,000+ new accounts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Reported average acquisition cost: 750 naira/account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Keep numbers as published in public sources only.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3267" y="171450"/>
            <a:ext cx="850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5071491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2 | Eatalia - Digital Process Optimization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85750" y="1404342"/>
            <a:ext cx="507149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transformation + digital execution impact.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666726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67148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666726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55403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666726"/>
            <a:ext cx="0" cy="892076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781026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37011"/>
            <a:ext cx="477031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Website functionality, order infrastructure, and operational inefficiencies.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2654052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2658814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3038" y="2654052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3541365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2654052"/>
            <a:ext cx="0" cy="892076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2768352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033861"/>
            <a:ext cx="46767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website and online ordering portal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Implemented POS/inventory/stock systems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372100" y="628650"/>
            <a:ext cx="360045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9525">
            <a:solidFill>
              <a:srgbClr val="D2DC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https://res.cloudinary.com/innosaint/image/upload/v1745856555/Vertical_logo_jynkx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987" y="781943"/>
            <a:ext cx="2936677" cy="60781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72100" y="1638300"/>
            <a:ext cx="360045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5372100" y="164306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967788" y="163830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72100" y="2724596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00675" y="1638300"/>
            <a:ext cx="0" cy="1091059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43550" y="1752600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43550" y="2018109"/>
            <a:ext cx="330517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Reduced manual errors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operational tracking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Increased digital footfall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Emphasize cross-functional impact beyond marketing metrics alone.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20645" y="171450"/>
            <a:ext cx="873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5071491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3 | Miva University - Integrated ATL/OOH Support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85750" y="1404342"/>
            <a:ext cx="507149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integrated channel planning and efficiency.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666726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67148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666726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554039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666726"/>
            <a:ext cx="0" cy="892076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781026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37011"/>
            <a:ext cx="477031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 enrollment push requiring offline OOH support for digital campaign.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2654052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2658814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3038" y="2654052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3541365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2654052"/>
            <a:ext cx="0" cy="892076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2768352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033861"/>
            <a:ext cx="46767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BRT branding route selection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Audience-proximity channel design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372100" y="628650"/>
            <a:ext cx="360045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9525">
            <a:solidFill>
              <a:srgbClr val="D2DC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https://miva-university.s3.eu-west-2.amazonaws.com/wp-content/uploads/2024/02/12140233/Miva-mobile-logo-dark-4x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895" y="772418"/>
            <a:ext cx="2506861" cy="6267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72100" y="1638300"/>
            <a:ext cx="360045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5372100" y="164306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967788" y="163830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72100" y="2724596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00675" y="1638300"/>
            <a:ext cx="0" cy="1091059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43550" y="1752600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43550" y="2018109"/>
            <a:ext cx="330517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Increased visibility in target corridors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Enrollment goals achieved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 OOH component cost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Show integration of offline and digital logic.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5071491" cy="104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4 | Tolaram Group (Indomie) - Campaign Continuity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85750" y="1754088"/>
            <a:ext cx="507149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execution reliability and continuity enablement.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016472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021235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2016472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903786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016472"/>
            <a:ext cx="0" cy="892076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130772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386757"/>
            <a:ext cx="4770311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bottlenecks on Meta threatened campaign continuity.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3003798"/>
            <a:ext cx="49720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3008561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3038" y="3003798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3891111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3003798"/>
            <a:ext cx="0" cy="892076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118098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383607"/>
            <a:ext cx="46767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ad-account funding support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 continuity management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372100" y="628650"/>
            <a:ext cx="360045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9525">
            <a:solidFill>
              <a:srgbClr val="D2DC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https://cdn.worldvectorlogo.com/logos/indomie-1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893" y="772418"/>
            <a:ext cx="626715" cy="6267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72100" y="1638300"/>
            <a:ext cx="3600450" cy="89207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5372100" y="164306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967788" y="1638300"/>
            <a:ext cx="0" cy="89207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72100" y="2525613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00675" y="1638300"/>
            <a:ext cx="0" cy="892076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43550" y="1752600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43550" y="2018109"/>
            <a:ext cx="3305175" cy="35986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delays removed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Always-on campaign delivery maintained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Position as reliability case with operational value.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22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Cross-Case Impact Synthesis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443038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 campaign outcomes to business impact dimensions.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705421"/>
            <a:ext cx="48006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710184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1705421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990701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705421"/>
            <a:ext cx="0" cy="129004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19721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Pattern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85231"/>
            <a:ext cx="45053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acquisition economics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Reduced operational friction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delivery continuity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Stronger visibility and engagement trajectories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200650" y="628650"/>
            <a:ext cx="37719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628650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0650" y="1442740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9225" y="628650"/>
            <a:ext cx="0" cy="81885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Lens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72100" y="998934"/>
            <a:ext cx="3546158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growth, engagement, and revenue efficiency improve when strategy, execution, and systems are integrated.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Synthesize learnings before moving into Mandilas-specific recommendations.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71450"/>
            <a:ext cx="2800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22580" y="171450"/>
            <a:ext cx="8718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23 / 28</a:t>
            </a:r>
            <a:endParaRPr lang="en-US" sz="825" dirty="0"/>
          </a:p>
        </p:txBody>
      </p:sp>
      <p:pic>
        <p:nvPicPr>
          <p:cNvPr id="9" name="Image 3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721644"/>
            <a:ext cx="3429000" cy="19288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3284" y="1942505"/>
            <a:ext cx="1197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BREAKER</a:t>
            </a:r>
            <a:endParaRPr lang="en-US" sz="825" dirty="0"/>
          </a:p>
        </p:txBody>
      </p:sp>
      <p:sp>
        <p:nvSpPr>
          <p:cNvPr id="11" name="Text 5"/>
          <p:cNvSpPr/>
          <p:nvPr/>
        </p:nvSpPr>
        <p:spPr>
          <a:xfrm>
            <a:off x="588645" y="2075855"/>
            <a:ext cx="7966710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44"/>
              </a:lnSpc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 | Working with Radoss.</a:t>
            </a:r>
            <a:endParaRPr lang="en-US" sz="3900" dirty="0"/>
          </a:p>
        </p:txBody>
      </p:sp>
      <p:sp>
        <p:nvSpPr>
          <p:cNvPr id="12" name="Text 6"/>
          <p:cNvSpPr/>
          <p:nvPr/>
        </p:nvSpPr>
        <p:spPr>
          <a:xfrm>
            <a:off x="2158761" y="3198019"/>
            <a:ext cx="482647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Research + Consumer Insight + M-C-I-A Action Plan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Signal transition from retrospective proof to forward plan.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24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8743950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1"/>
              </a:lnSpc>
              <a:spcAft>
                <a:spcPts val="600"/>
              </a:spcAft>
              <a:buNone/>
            </a:pPr>
            <a:r>
              <a:rPr lang="en-US" sz="27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Mandilas Context | Opportunity Map</a:t>
            </a:r>
            <a:endParaRPr lang="en-US" sz="2775" dirty="0"/>
          </a:p>
        </p:txBody>
      </p:sp>
      <p:sp>
        <p:nvSpPr>
          <p:cNvPr id="10" name="Text 5"/>
          <p:cNvSpPr/>
          <p:nvPr/>
        </p:nvSpPr>
        <p:spPr>
          <a:xfrm>
            <a:off x="285750" y="1064270"/>
            <a:ext cx="87439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 Mandilas operating context from available public signals.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26654"/>
            <a:ext cx="4972050" cy="1412825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331416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326654"/>
            <a:ext cx="0" cy="1412825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734717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326654"/>
            <a:ext cx="0" cy="1412825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440954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Mandilas Public Context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1706463"/>
            <a:ext cx="4676775" cy="88061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Heritage business founded in 1950 with multi-sector positioning [1]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channels indicate Carrier franchise + Toyota dealership + aftersales/fleet/leasing [2][5]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Official site currently under reconstruction, creating digital front-door opportunity [4]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372100" y="1326654"/>
            <a:ext cx="3600450" cy="985986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372100" y="1331416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1326654"/>
            <a:ext cx="0" cy="985986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72100" y="2307878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00675" y="1326654"/>
            <a:ext cx="0" cy="985986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543550" y="1440954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Implication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543550" y="1696938"/>
            <a:ext cx="3371279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Mandilas can win by modernizing demand generation and lifecycle service experience across mobility and engineering touchpoints.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7124700" y="781050"/>
            <a:ext cx="1638300" cy="83820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2DC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/Users/radossagency/Documents/Web-Projects/new-radoss.agency/workspace/mandilas-pitch/assets/mandilas-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507" y="905321"/>
            <a:ext cx="814536" cy="5895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85750" y="2825204"/>
            <a:ext cx="8572500" cy="266700"/>
          </a:xfrm>
          <a:prstGeom prst="rect">
            <a:avLst/>
          </a:prstGeom>
          <a:solidFill>
            <a:srgbClr val="FFFFFF">
              <a:alpha val="68000"/>
            </a:srgbClr>
          </a:solidFill>
          <a:ln w="9525">
            <a:solidFill>
              <a:srgbClr val="9FB1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90525" y="2901404"/>
            <a:ext cx="853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255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Citations are embedded as [n] and fully listed in the final references slide.</a:t>
            </a:r>
            <a:endParaRPr lang="en-US" sz="825" dirty="0"/>
          </a:p>
        </p:txBody>
      </p:sp>
      <p:sp>
        <p:nvSpPr>
          <p:cNvPr id="29" name="Shape 23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Anchor the recommendation on official/publicly visible facts only.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25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8743950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1"/>
              </a:lnSpc>
              <a:spcAft>
                <a:spcPts val="600"/>
              </a:spcAft>
              <a:buNone/>
            </a:pPr>
            <a:r>
              <a:rPr lang="en-US" sz="27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Behaviour &amp; Industry Signals (Nigeria / SSA)</a:t>
            </a:r>
            <a:endParaRPr lang="en-US" sz="2775" dirty="0"/>
          </a:p>
        </p:txBody>
      </p:sp>
      <p:sp>
        <p:nvSpPr>
          <p:cNvPr id="10" name="Text 5"/>
          <p:cNvSpPr/>
          <p:nvPr/>
        </p:nvSpPr>
        <p:spPr>
          <a:xfrm>
            <a:off x="285750" y="1423690"/>
            <a:ext cx="87439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trusted-source insight to guide recommendations.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686074"/>
            <a:ext cx="4972050" cy="177269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690836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686074"/>
            <a:ext cx="0" cy="177269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3454003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686074"/>
            <a:ext cx="0" cy="177269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800374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Signals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065883"/>
            <a:ext cx="4676775" cy="124048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Nigeria: 150M mobile connections, 107M internet users, 38.7M social identities in early 2025 [6]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Population ~235M; urban population ~63.0% (2024), accelerating city-based service demand [7]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Inflation ~33.2% (2024) indicates stronger price-value sensitivity [7]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SSA connectivity still has a large usage gap while 4G/5G adoption rises through 2030 [8]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372100" y="1686074"/>
            <a:ext cx="3600450" cy="12519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372100" y="1690836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1686074"/>
            <a:ext cx="0" cy="12519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72100" y="2933254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00675" y="1686074"/>
            <a:ext cx="0" cy="1251942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543550" y="1800374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Mandilas-Relevant Implications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543550" y="2065883"/>
            <a:ext cx="3305175" cy="7197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Mobile-first discovery and service journeys are non-negotiable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Trust, convenience, and response speed are decisive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Retention programs must balance value and affordability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285750" y="3544491"/>
            <a:ext cx="8572500" cy="266700"/>
          </a:xfrm>
          <a:prstGeom prst="rect">
            <a:avLst/>
          </a:prstGeom>
          <a:solidFill>
            <a:srgbClr val="FFFFFF">
              <a:alpha val="68000"/>
            </a:srgbClr>
          </a:solidFill>
          <a:ln w="9525">
            <a:solidFill>
              <a:srgbClr val="9FB1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90525" y="3620691"/>
            <a:ext cx="853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255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Citations are embedded as [n] and fully listed in the final references slide.</a:t>
            </a:r>
            <a:endParaRPr lang="en-US" sz="825" dirty="0"/>
          </a:p>
        </p:txBody>
      </p:sp>
      <p:sp>
        <p:nvSpPr>
          <p:cNvPr id="27" name="Shape 22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Use this as the evidence base for strategic recommendations.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26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8743950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1"/>
              </a:lnSpc>
              <a:spcAft>
                <a:spcPts val="600"/>
              </a:spcAft>
              <a:buNone/>
            </a:pPr>
            <a:r>
              <a:rPr lang="en-US" sz="27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with Radoss | M-C-I-A Applied to Mandilas</a:t>
            </a:r>
            <a:endParaRPr lang="en-US" sz="2775" dirty="0"/>
          </a:p>
        </p:txBody>
      </p:sp>
      <p:sp>
        <p:nvSpPr>
          <p:cNvPr id="10" name="Text 5"/>
          <p:cNvSpPr/>
          <p:nvPr/>
        </p:nvSpPr>
        <p:spPr>
          <a:xfrm>
            <a:off x="285750" y="1064270"/>
            <a:ext cx="87439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Translate insights into top-line strategic recommendation.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26654"/>
            <a:ext cx="497205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1331416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253038" y="1326654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2412950"/>
            <a:ext cx="49720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1326654"/>
            <a:ext cx="0" cy="1091059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1440954"/>
            <a:ext cx="477031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- Map (0-30 days)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1706463"/>
            <a:ext cx="467677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Category and demand map per business line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 and channel gap scan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baseline and risk register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372100" y="1326654"/>
            <a:ext cx="360045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372100" y="1331416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7788" y="1326654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72100" y="2412950"/>
            <a:ext cx="360045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00675" y="1326654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543550" y="1440954"/>
            <a:ext cx="3371279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- Connect (30-60 days)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543550" y="1706463"/>
            <a:ext cx="330517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Segmented journeys: retail, fleet, B2B projects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WhatsApp-first service and lead workflows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Message architecture by value drivers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285750" y="2503438"/>
            <a:ext cx="8572500" cy="266700"/>
          </a:xfrm>
          <a:prstGeom prst="rect">
            <a:avLst/>
          </a:prstGeom>
          <a:solidFill>
            <a:srgbClr val="FFFFFF">
              <a:alpha val="68000"/>
            </a:srgbClr>
          </a:solidFill>
          <a:ln w="9525">
            <a:solidFill>
              <a:srgbClr val="9FB1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90525" y="2579638"/>
            <a:ext cx="853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255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Citations are embedded as [n] and fully listed in the final references slide.</a:t>
            </a:r>
            <a:endParaRPr lang="en-US" sz="825" dirty="0"/>
          </a:p>
        </p:txBody>
      </p:sp>
      <p:sp>
        <p:nvSpPr>
          <p:cNvPr id="27" name="Shape 22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Present as practical and phased, not abstract consulting language.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27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4896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7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 (First 90 Days) + Partnership Operating Model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285750" y="1812131"/>
            <a:ext cx="489661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Offer practical early wins and governance structure.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2074515"/>
            <a:ext cx="4800600" cy="129004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285750" y="2079278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81588" y="2074515"/>
            <a:ext cx="0" cy="129004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5750" y="3359795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4325" y="2074515"/>
            <a:ext cx="0" cy="1290042"/>
          </a:xfrm>
          <a:prstGeom prst="line">
            <a:avLst/>
          </a:prstGeom>
          <a:noFill/>
          <a:ln w="57150">
            <a:solidFill>
              <a:srgbClr val="4745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2188815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2454325"/>
            <a:ext cx="4505325" cy="75783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Unified lead capture and routing for Toyota/Carrier/service inquiries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WhatsApp service reminders and quote follow-up sequences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Conversion-focused landing pages for high-intent service categories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dashboard linking spend to inquiries, bookings, and closed revenue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285750" y="3459807"/>
            <a:ext cx="4800600" cy="818852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285750" y="3464570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81588" y="3459807"/>
            <a:ext cx="0" cy="818852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85750" y="4273897"/>
            <a:ext cx="48006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14325" y="3459807"/>
            <a:ext cx="0" cy="818852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574107"/>
            <a:ext cx="459543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Confirmation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3830092"/>
            <a:ext cx="459543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341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Radoss confirms availability for the physical panel meeting on Thursday, February 19, 2026 at 12:15 PM.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5200650" y="628650"/>
            <a:ext cx="3771900" cy="1091059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5200650" y="633413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967788" y="628650"/>
            <a:ext cx="0" cy="1091059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200650" y="1714946"/>
            <a:ext cx="3771900" cy="0"/>
          </a:xfrm>
          <a:prstGeom prst="line">
            <a:avLst/>
          </a:prstGeom>
          <a:noFill/>
          <a:ln w="9525">
            <a:solidFill>
              <a:srgbClr val="D9E4F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29225" y="628650"/>
            <a:ext cx="0" cy="1091059"/>
          </a:xfrm>
          <a:prstGeom prst="line">
            <a:avLst/>
          </a:prstGeom>
          <a:noFill/>
          <a:ln w="57150">
            <a:solidFill>
              <a:srgbClr val="FFD90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372100" y="742950"/>
            <a:ext cx="354615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Cadence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372100" y="1008459"/>
            <a:ext cx="3476625" cy="558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execution reviews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Bi-weekly optimization checkpoints</a:t>
            </a:r>
            <a:endParaRPr lang="en-US" sz="975" dirty="0"/>
          </a:p>
          <a:p>
            <a:pPr algn="l" marL="85725" indent="-85725">
              <a:lnSpc>
                <a:spcPts val="1268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strategic steering with Mandilas leadership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Close with confidence and practical next step options.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dossagency/Documents/Web-Projects/new-radoss.agency/workspace/mandilas-pitch/assets/bg-light-sta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81250" cy="1339453"/>
          </a:xfrm>
          <a:prstGeom prst="rect">
            <a:avLst/>
          </a:prstGeom>
        </p:spPr>
      </p:pic>
      <p:pic>
        <p:nvPicPr>
          <p:cNvPr id="4" name="Image 2" descr="/Users/radossagency/Documents/Web-Projects/new-radoss.agency/workspace/mandilas-pitch/assets/flower-overla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05125"/>
            <a:ext cx="2381250" cy="13394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485775"/>
          </a:xfrm>
          <a:prstGeom prst="rect">
            <a:avLst/>
          </a:prstGeom>
          <a:solidFill>
            <a:srgbClr val="FFFFFF">
              <a:alpha val="8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1"/>
          <p:cNvSpPr/>
          <p:nvPr/>
        </p:nvSpPr>
        <p:spPr>
          <a:xfrm>
            <a:off x="0" y="481012"/>
            <a:ext cx="9144000" cy="0"/>
          </a:xfrm>
          <a:prstGeom prst="line">
            <a:avLst/>
          </a:prstGeom>
          <a:noFill/>
          <a:ln w="9525">
            <a:solidFill>
              <a:srgbClr val="D7E1E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66700" y="180975"/>
            <a:ext cx="277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RADOSS AGENCY | MANDILAS PANEL PITCH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8047881" y="180975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28 / 28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285750" y="628650"/>
            <a:ext cx="874395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&amp; Citations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285750" y="1093440"/>
            <a:ext cx="87439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transparent source references used in recommendation section.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285750" y="1355824"/>
            <a:ext cx="8572500" cy="190723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D8E3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09575" y="1498699"/>
            <a:ext cx="8324850" cy="162148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[1] https://www.linkedin.com/company/mandilas-group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[2] https://www.instagram.com/mandilasgroup/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[3] https://www.facebook.com/MandilasGroup/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[4] https://www.mandilasng.com/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[5] https://toyotanigeria.com/dealers/mandilas-enterprises-ltd/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[6] https://datareportal.com/reports/digital-2025-nigeria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[7] World Bank API indicators: SP.URB.TOTL.IN.ZS, FP.CPI.TOTL.ZG, NY.GDP.MKTP.KD.ZG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[8] https://www.gsma.com/solutions-and-impact/connectivity-for-good/mobile-economy/sub-saharan-africa-2024/</a:t>
            </a:r>
            <a:endParaRPr lang="en-US" sz="900" dirty="0"/>
          </a:p>
          <a:p>
            <a:pPr algn="l" marL="85725" indent="-85725">
              <a:lnSpc>
                <a:spcPts val="1152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B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[9] /Users/radossagency/Documents/Business/Radoss/Contracts/Radoss Portfolio.pdf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66700" y="4757738"/>
            <a:ext cx="8610600" cy="0"/>
          </a:xfrm>
          <a:prstGeom prst="line">
            <a:avLst/>
          </a:prstGeom>
          <a:noFill/>
          <a:ln w="9525">
            <a:solidFill>
              <a:srgbClr val="CFD8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6700" y="4819650"/>
            <a:ext cx="8782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Speaker Notes: Keep sources visible for panel credibility and Q&amp;A defensibility.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Radoss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Mandilas Panel Pitch - Radoss Agency (Light Theme)</dc:title>
  <dc:subject>Mandilas Group Panel Pitch (Light Theme)</dc:subject>
  <dc:creator>Radoss Agency</dc:creator>
  <cp:lastModifiedBy>Radoss Agency</cp:lastModifiedBy>
  <cp:revision>1</cp:revision>
  <dcterms:created xsi:type="dcterms:W3CDTF">2026-02-18T23:25:45Z</dcterms:created>
  <dcterms:modified xsi:type="dcterms:W3CDTF">2026-02-18T23:25:45Z</dcterms:modified>
</cp:coreProperties>
</file>